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XL5SywEjARfnqobatTutSiNOf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28A014-2334-43F5-819D-BED49729461F}">
  <a:tblStyle styleId="{CF28A014-2334-43F5-819D-BED4972946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7ad23a58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e7ad23a58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f583a633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def583a633_2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688068" y="1028700"/>
            <a:ext cx="7571232" cy="8229600"/>
          </a:xfrm>
          <a:custGeom>
            <a:rect b="b" l="l" r="r" t="t"/>
            <a:pathLst>
              <a:path extrusionOk="0" h="8229600" w="7571232">
                <a:moveTo>
                  <a:pt x="0" y="0"/>
                </a:moveTo>
                <a:lnTo>
                  <a:pt x="7571232" y="0"/>
                </a:lnTo>
                <a:lnTo>
                  <a:pt x="7571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352600" y="2126275"/>
            <a:ext cx="8079300" cy="30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3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Responsible Machine Learning</a:t>
            </a:r>
            <a:endParaRPr sz="100"/>
          </a:p>
          <a:p>
            <a:pPr indent="0" lvl="0" marL="0" rtl="0" algn="l">
              <a:lnSpc>
                <a:spcPct val="86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marR="0" rtl="0" algn="l">
              <a:lnSpc>
                <a:spcPct val="86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marR="0" rtl="0" algn="l">
              <a:lnSpc>
                <a:spcPct val="86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33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Capstone Project</a:t>
            </a:r>
            <a:endParaRPr b="0" i="0" sz="7334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634122" y="1350618"/>
            <a:ext cx="1543050" cy="1543050"/>
          </a:xfrm>
          <a:custGeom>
            <a:rect b="b" l="l" r="r" t="t"/>
            <a:pathLst>
              <a:path extrusionOk="0"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538696" y="1072879"/>
            <a:ext cx="31479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8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51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00250" y="8511250"/>
            <a:ext cx="95334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latin typeface="Inter"/>
                <a:ea typeface="Inter"/>
                <a:cs typeface="Inter"/>
                <a:sym typeface="Inter"/>
              </a:rPr>
              <a:t>Surafel Debebe, Xiaowei Cen, Percy Rodriguez, </a:t>
            </a:r>
            <a:endParaRPr sz="3099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86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99">
                <a:latin typeface="Inter"/>
                <a:ea typeface="Inter"/>
                <a:cs typeface="Inter"/>
                <a:sym typeface="Inter"/>
              </a:rPr>
              <a:t>Lin Shu Tseng, Ramin Gamzaev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 flipH="1">
            <a:off x="15211805" y="465253"/>
            <a:ext cx="1056040" cy="731548"/>
          </a:xfrm>
          <a:custGeom>
            <a:rect b="b" l="l" r="r" t="t"/>
            <a:pathLst>
              <a:path extrusionOk="0" h="731548" w="1056040">
                <a:moveTo>
                  <a:pt x="1056040" y="0"/>
                </a:moveTo>
                <a:lnTo>
                  <a:pt x="0" y="0"/>
                </a:lnTo>
                <a:lnTo>
                  <a:pt x="0" y="731548"/>
                </a:lnTo>
                <a:lnTo>
                  <a:pt x="1056040" y="731548"/>
                </a:lnTo>
                <a:lnTo>
                  <a:pt x="105604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7290536" y="587326"/>
            <a:ext cx="5642920" cy="677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we do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761823" y="1477619"/>
            <a:ext cx="7968990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End-to-end audit of a loan approval model using HMDA data</a:t>
            </a:r>
            <a:endParaRPr/>
          </a:p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Focus on performance, fairness, and deployment risk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35620" y="3142954"/>
            <a:ext cx="5643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&amp; Setup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806907" y="4033248"/>
            <a:ext cx="79689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2024 HMDA Loan Application data (15</a:t>
            </a:r>
            <a:r>
              <a:rPr lang="en-US" sz="2299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 samples)</a:t>
            </a:r>
            <a:endParaRPr/>
          </a:p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Binary label: approved (1) vs denied (0)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303494" y="5425985"/>
            <a:ext cx="5643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774781" y="6316279"/>
            <a:ext cx="7968900" cy="1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Logistic Regression (interpretable baseline)</a:t>
            </a:r>
            <a:endParaRPr/>
          </a:p>
          <a:p>
            <a:pPr indent="-248284" lvl="1" marL="49656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Gradient Boosting (high-performance model)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99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320289" y="7610508"/>
            <a:ext cx="5643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2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791575" y="8510325"/>
            <a:ext cx="8439900" cy="13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6460" lvl="1" marL="525921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5"/>
              <a:buFont typeface="Inter"/>
              <a:buChar char="•"/>
            </a:pPr>
            <a:r>
              <a:rPr lang="en-US" sz="2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determine whether the model is accurate, fair, and defensible for deployment</a:t>
            </a: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2"/>
          <p:cNvSpPr/>
          <p:nvPr/>
        </p:nvSpPr>
        <p:spPr>
          <a:xfrm flipH="1">
            <a:off x="15211805" y="2813355"/>
            <a:ext cx="1056040" cy="731548"/>
          </a:xfrm>
          <a:custGeom>
            <a:rect b="b" l="l" r="r" t="t"/>
            <a:pathLst>
              <a:path extrusionOk="0" h="731548" w="1056040">
                <a:moveTo>
                  <a:pt x="1056040" y="0"/>
                </a:moveTo>
                <a:lnTo>
                  <a:pt x="0" y="0"/>
                </a:lnTo>
                <a:lnTo>
                  <a:pt x="0" y="731548"/>
                </a:lnTo>
                <a:lnTo>
                  <a:pt x="1056040" y="731548"/>
                </a:lnTo>
                <a:lnTo>
                  <a:pt x="105604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flipH="1">
            <a:off x="15211805" y="5549896"/>
            <a:ext cx="1056040" cy="731548"/>
          </a:xfrm>
          <a:custGeom>
            <a:rect b="b" l="l" r="r" t="t"/>
            <a:pathLst>
              <a:path extrusionOk="0" h="731548" w="1056040">
                <a:moveTo>
                  <a:pt x="1056040" y="0"/>
                </a:moveTo>
                <a:lnTo>
                  <a:pt x="0" y="0"/>
                </a:lnTo>
                <a:lnTo>
                  <a:pt x="0" y="731548"/>
                </a:lnTo>
                <a:lnTo>
                  <a:pt x="1056040" y="731548"/>
                </a:lnTo>
                <a:lnTo>
                  <a:pt x="105604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 flipH="1">
            <a:off x="15384908" y="7778782"/>
            <a:ext cx="1056040" cy="731548"/>
          </a:xfrm>
          <a:custGeom>
            <a:rect b="b" l="l" r="r" t="t"/>
            <a:pathLst>
              <a:path extrusionOk="0" h="731548" w="1056040">
                <a:moveTo>
                  <a:pt x="1056040" y="0"/>
                </a:moveTo>
                <a:lnTo>
                  <a:pt x="0" y="0"/>
                </a:lnTo>
                <a:lnTo>
                  <a:pt x="0" y="731548"/>
                </a:lnTo>
                <a:lnTo>
                  <a:pt x="1056040" y="731548"/>
                </a:lnTo>
                <a:lnTo>
                  <a:pt x="105604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0" y="4335147"/>
            <a:ext cx="6368377" cy="5631614"/>
          </a:xfrm>
          <a:custGeom>
            <a:rect b="b" l="l" r="r" t="t"/>
            <a:pathLst>
              <a:path extrusionOk="0" h="4644630" w="7195906">
                <a:moveTo>
                  <a:pt x="0" y="0"/>
                </a:moveTo>
                <a:lnTo>
                  <a:pt x="7195906" y="0"/>
                </a:lnTo>
                <a:lnTo>
                  <a:pt x="7195906" y="4644630"/>
                </a:lnTo>
                <a:lnTo>
                  <a:pt x="0" y="4644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 rot="-5400000">
            <a:off x="15771244" y="-813907"/>
            <a:ext cx="969594" cy="3396666"/>
          </a:xfrm>
          <a:custGeom>
            <a:rect b="b" l="l" r="r" t="t"/>
            <a:pathLst>
              <a:path extrusionOk="0" h="3396666" w="969594">
                <a:moveTo>
                  <a:pt x="0" y="0"/>
                </a:moveTo>
                <a:lnTo>
                  <a:pt x="969593" y="0"/>
                </a:lnTo>
                <a:lnTo>
                  <a:pt x="969593" y="3396666"/>
                </a:lnTo>
                <a:lnTo>
                  <a:pt x="0" y="3396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6635702" y="1914875"/>
            <a:ext cx="10888684" cy="6663490"/>
          </a:xfrm>
          <a:custGeom>
            <a:rect b="b" l="l" r="r" t="t"/>
            <a:pathLst>
              <a:path extrusionOk="0" h="5896894" w="10970966">
                <a:moveTo>
                  <a:pt x="0" y="0"/>
                </a:moveTo>
                <a:lnTo>
                  <a:pt x="10970966" y="0"/>
                </a:lnTo>
                <a:lnTo>
                  <a:pt x="10970966" y="5896894"/>
                </a:lnTo>
                <a:lnTo>
                  <a:pt x="0" y="5896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181100" y="308575"/>
            <a:ext cx="166062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Ｑ1:Optimization Objective</a:t>
            </a:r>
            <a:endParaRPr sz="1200"/>
          </a:p>
        </p:txBody>
      </p:sp>
      <p:sp>
        <p:nvSpPr>
          <p:cNvPr id="113" name="Google Shape;113;p3"/>
          <p:cNvSpPr txBox="1"/>
          <p:nvPr/>
        </p:nvSpPr>
        <p:spPr>
          <a:xfrm>
            <a:off x="181100" y="2176975"/>
            <a:ext cx="6043200" cy="7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3505" lvl="1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SzPts val="1967"/>
              <a:buChar char="•"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Training objective: minimize log loss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-353505" lvl="1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SzPts val="1967"/>
              <a:buChar char="•"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Model selection: maximize AUC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-353505" lvl="1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SzPts val="1967"/>
              <a:buChar char="•"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Output: probability score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-353505" lvl="1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SzPts val="1967"/>
              <a:buChar char="•"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Loss function: Binary cross-entropy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Why cross-entropy: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Well-calibrated probabilities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Penalizes confident errors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Suitable for decision-making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Limitations: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Group-blind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Class imbalance sensitivity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-429705" lvl="0" marL="18288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SzPts val="3167"/>
              <a:buFont typeface="Inter"/>
              <a:buChar char="●"/>
            </a:pPr>
            <a:r>
              <a:rPr lang="en-US" sz="1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78.4% approval rate</a:t>
            </a:r>
            <a:endParaRPr sz="3167"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Arbitrary threshold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91440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67">
                <a:latin typeface="Inter"/>
                <a:ea typeface="Inter"/>
                <a:cs typeface="Inter"/>
                <a:sym typeface="Inter"/>
              </a:rPr>
              <a:t>• Fairness trade-offs</a:t>
            </a:r>
            <a:endParaRPr sz="1967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67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082800" y="9115750"/>
            <a:ext cx="102564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71">
                <a:latin typeface="Inter"/>
                <a:ea typeface="Inter"/>
                <a:cs typeface="Inter"/>
                <a:sym typeface="Inter"/>
              </a:rPr>
              <a:t>Calibration curves show predicted probabilities align with actual outcomes,</a:t>
            </a:r>
            <a:endParaRPr sz="2071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1">
                <a:latin typeface="Inter"/>
                <a:ea typeface="Inter"/>
                <a:cs typeface="Inter"/>
                <a:sym typeface="Inter"/>
              </a:rPr>
              <a:t>supporting the use of log loss as the training objective.</a:t>
            </a:r>
            <a:endParaRPr sz="207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9705773" y="3685696"/>
            <a:ext cx="446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1407305" y="14290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 txBox="1"/>
          <p:nvPr/>
        </p:nvSpPr>
        <p:spPr>
          <a:xfrm>
            <a:off x="2216583" y="551228"/>
            <a:ext cx="13659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Ｑ2. Known failure modes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 rot="10800000">
            <a:off x="15876180" y="212203"/>
            <a:ext cx="436681" cy="339023"/>
          </a:xfrm>
          <a:custGeom>
            <a:rect b="b" l="l" r="r" t="t"/>
            <a:pathLst>
              <a:path extrusionOk="0"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7420125" y="3112175"/>
            <a:ext cx="10789268" cy="6664162"/>
          </a:xfrm>
          <a:custGeom>
            <a:rect b="b" l="l" r="r" t="t"/>
            <a:pathLst>
              <a:path extrusionOk="0" h="4094723" w="8666079">
                <a:moveTo>
                  <a:pt x="0" y="0"/>
                </a:moveTo>
                <a:lnTo>
                  <a:pt x="8666079" y="0"/>
                </a:lnTo>
                <a:lnTo>
                  <a:pt x="8666079" y="4094723"/>
                </a:lnTo>
                <a:lnTo>
                  <a:pt x="0" y="4094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566776" y="2426738"/>
            <a:ext cx="124491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identify multiple ways the model can fail</a:t>
            </a:r>
            <a:r>
              <a:rPr lang="en-US" sz="1600"/>
              <a:t>  </a:t>
            </a:r>
            <a:r>
              <a:rPr b="1" lang="en-US" sz="2300"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ailures arise from:</a:t>
            </a:r>
            <a:endParaRPr sz="1600"/>
          </a:p>
          <a:p>
            <a:pPr indent="-2393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 reliance </a:t>
            </a:r>
            <a:endParaRPr b="1" i="0" sz="2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Inter"/>
                <a:ea typeface="Inter"/>
                <a:cs typeface="Inter"/>
                <a:sym typeface="Inter"/>
              </a:rPr>
              <a:t>- Over-reliance on a small set of features</a:t>
            </a:r>
            <a:endParaRPr b="1" sz="2300">
              <a:latin typeface="Inter"/>
              <a:ea typeface="Inter"/>
              <a:cs typeface="Inter"/>
              <a:sym typeface="Inter"/>
            </a:endParaRPr>
          </a:p>
          <a:p>
            <a:pPr indent="-2393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sensitivity</a:t>
            </a:r>
            <a:endParaRPr sz="1600"/>
          </a:p>
          <a:p>
            <a:pPr indent="-221616" lvl="1" marL="36703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Subgroup disparities</a:t>
            </a:r>
            <a:endParaRPr sz="20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66775" y="5273825"/>
            <a:ext cx="6960600" cy="4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observation：Model relies heavily on a small set of features</a:t>
            </a:r>
            <a:endParaRPr sz="1800"/>
          </a:p>
          <a:p>
            <a:pPr indent="-369316" lvl="0" marL="45720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6"/>
              <a:buFont typeface="Inter"/>
              <a:buAutoNum type="arabicPeriod"/>
            </a:pPr>
            <a:r>
              <a:rPr b="0" i="0" lang="en-US" sz="2216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loan purpose</a:t>
            </a:r>
            <a:endParaRPr sz="1800" u="sng"/>
          </a:p>
          <a:p>
            <a:pPr indent="-369316" lvl="0" marL="45720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6"/>
              <a:buFont typeface="Inter"/>
              <a:buAutoNum type="arabicPeriod"/>
            </a:pPr>
            <a:r>
              <a:rPr b="0" i="0" lang="en-US" sz="2216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debt-to-income ratio</a:t>
            </a:r>
            <a:endParaRPr sz="1800" u="sng"/>
          </a:p>
          <a:p>
            <a:pPr indent="-369316" lvl="0" marL="45720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6"/>
              <a:buFont typeface="Inter"/>
              <a:buAutoNum type="arabicPeriod"/>
            </a:pPr>
            <a:r>
              <a:rPr b="0" i="0" lang="en-US" sz="2216" u="sng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income</a:t>
            </a:r>
            <a:endParaRPr b="0" i="0" sz="2216" u="sng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16" u="sng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16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Risk：</a:t>
            </a:r>
            <a:r>
              <a:rPr lang="en-US" sz="2216">
                <a:latin typeface="Inter"/>
                <a:ea typeface="Inter"/>
                <a:cs typeface="Inter"/>
                <a:sym typeface="Inter"/>
              </a:rPr>
              <a:t>These variables may act as proxies for race or income-related groups,</a:t>
            </a:r>
            <a:endParaRPr sz="2216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16">
                <a:latin typeface="Inter"/>
                <a:ea typeface="Inter"/>
                <a:cs typeface="Inter"/>
                <a:sym typeface="Inter"/>
              </a:rPr>
              <a:t>leading to indirect disparities in loan approval outcomes.</a:t>
            </a:r>
            <a:endParaRPr sz="2216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7348277" y="4915535"/>
            <a:ext cx="359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1438005" y="12957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5"/>
          <p:cNvSpPr txBox="1"/>
          <p:nvPr/>
        </p:nvSpPr>
        <p:spPr>
          <a:xfrm>
            <a:off x="2167308" y="551228"/>
            <a:ext cx="13659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Ｑ2. Known failure modes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 rot="10800000">
            <a:off x="15905680" y="319528"/>
            <a:ext cx="436681" cy="339023"/>
          </a:xfrm>
          <a:custGeom>
            <a:rect b="b" l="l" r="r" t="t"/>
            <a:pathLst>
              <a:path extrusionOk="0"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8339975" y="2790225"/>
            <a:ext cx="9858519" cy="7135443"/>
          </a:xfrm>
          <a:custGeom>
            <a:rect b="b" l="l" r="r" t="t"/>
            <a:pathLst>
              <a:path extrusionOk="0" h="6059824" w="9044513">
                <a:moveTo>
                  <a:pt x="0" y="0"/>
                </a:moveTo>
                <a:lnTo>
                  <a:pt x="9044513" y="0"/>
                </a:lnTo>
                <a:lnTo>
                  <a:pt x="9044513" y="6059824"/>
                </a:lnTo>
                <a:lnTo>
                  <a:pt x="0" y="6059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568685" y="2278692"/>
            <a:ext cx="10165800" cy="2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 identify multiple ways the model can fail</a:t>
            </a:r>
            <a:r>
              <a:rPr lang="en-US">
                <a:solidFill>
                  <a:schemeClr val="dk1"/>
                </a:solidFill>
              </a:rPr>
              <a:t>  </a:t>
            </a:r>
            <a:r>
              <a:rPr b="1" lang="en-U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failures arise from:</a:t>
            </a:r>
            <a:endParaRPr>
              <a:solidFill>
                <a:schemeClr val="dk1"/>
              </a:solidFill>
            </a:endParaRPr>
          </a:p>
          <a:p>
            <a:pPr indent="-226695" lvl="1" marL="45339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Feature reliance</a:t>
            </a:r>
            <a:endParaRPr>
              <a:solidFill>
                <a:schemeClr val="dk1"/>
              </a:solidFill>
            </a:endParaRPr>
          </a:p>
          <a:p>
            <a:pPr indent="-226695" lvl="1" marL="45339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U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 sensitivity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- Small feature changes can noticeably shift predictions</a:t>
            </a:r>
            <a:endParaRPr b="1" sz="2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02566" lvl="1" marL="367033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Subgroup disparities</a:t>
            </a:r>
            <a:endParaRPr b="1" sz="24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477025" y="4675900"/>
            <a:ext cx="67590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3">
                <a:latin typeface="Inter"/>
                <a:ea typeface="Inter"/>
                <a:cs typeface="Inter"/>
                <a:sym typeface="Inter"/>
              </a:rPr>
              <a:t>Key observations:</a:t>
            </a:r>
            <a:endParaRPr sz="2193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3">
                <a:latin typeface="Inter"/>
                <a:ea typeface="Inter"/>
                <a:cs typeface="Inter"/>
                <a:sym typeface="Inter"/>
              </a:rPr>
              <a:t>SHAP analysis shows predictions are highly sensitive to a few dominant features.</a:t>
            </a:r>
            <a:endParaRPr sz="2193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3"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lang="en-US" sz="2193">
                <a:latin typeface="Inter"/>
                <a:ea typeface="Inter"/>
                <a:cs typeface="Inter"/>
                <a:sym typeface="Inter"/>
              </a:rPr>
              <a:t> loan purpose</a:t>
            </a:r>
            <a:endParaRPr sz="2193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3">
                <a:latin typeface="Inter"/>
                <a:ea typeface="Inter"/>
                <a:cs typeface="Inter"/>
                <a:sym typeface="Inter"/>
              </a:rPr>
              <a:t>• debt-to-income ratio</a:t>
            </a:r>
            <a:endParaRPr sz="2193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93">
                <a:latin typeface="Inter"/>
                <a:ea typeface="Inter"/>
                <a:cs typeface="Inter"/>
                <a:sym typeface="Inter"/>
              </a:rPr>
              <a:t>• income</a:t>
            </a:r>
            <a:endParaRPr sz="2193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477035" y="7588383"/>
            <a:ext cx="6645000" cy="23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Risks</a:t>
            </a:r>
            <a:endParaRPr/>
          </a:p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These features may act as proxies for protected attributes</a:t>
            </a:r>
            <a:endParaRPr/>
          </a:p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Predictions are sensitive to input changes</a:t>
            </a:r>
            <a:endParaRPr/>
          </a:p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→ may lead to unstable or biased decisions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1566230" y="12957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/>
          <p:nvPr/>
        </p:nvSpPr>
        <p:spPr>
          <a:xfrm rot="10800000">
            <a:off x="15445755" y="380853"/>
            <a:ext cx="436681" cy="339023"/>
          </a:xfrm>
          <a:custGeom>
            <a:rect b="b" l="l" r="r" t="t"/>
            <a:pathLst>
              <a:path extrusionOk="0"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>
            <a:off x="183975" y="5105175"/>
            <a:ext cx="11527284" cy="4593981"/>
          </a:xfrm>
          <a:custGeom>
            <a:rect b="b" l="l" r="r" t="t"/>
            <a:pathLst>
              <a:path extrusionOk="0" h="4263555" w="11301259">
                <a:moveTo>
                  <a:pt x="0" y="0"/>
                </a:moveTo>
                <a:lnTo>
                  <a:pt x="11301259" y="0"/>
                </a:lnTo>
                <a:lnTo>
                  <a:pt x="11301259" y="4263554"/>
                </a:lnTo>
                <a:lnTo>
                  <a:pt x="0" y="4263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216" r="-2216" t="0"/>
            </a:stretch>
          </a:blipFill>
          <a:ln>
            <a:noFill/>
          </a:ln>
        </p:spPr>
      </p:sp>
      <p:sp>
        <p:nvSpPr>
          <p:cNvPr id="147" name="Google Shape;147;p6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300405" y="2120399"/>
            <a:ext cx="101658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identify multiple ways the model can fail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Failures arise from: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 reliance</a:t>
            </a:r>
            <a:endParaRPr/>
          </a:p>
          <a:p>
            <a:pPr indent="-226695" lvl="1" marL="45339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sensitivity</a:t>
            </a:r>
            <a:endParaRPr/>
          </a:p>
          <a:p>
            <a:pPr indent="-205106" lvl="1" marL="41021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Subgroup disparities</a:t>
            </a:r>
            <a:endParaRPr b="1" i="0" sz="1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Inter"/>
                <a:ea typeface="Inter"/>
                <a:cs typeface="Inter"/>
                <a:sym typeface="Inter"/>
              </a:rPr>
              <a:t>- Unequal approval and error rates across demographic groups</a:t>
            </a:r>
            <a:endParaRPr b="1" sz="19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11539469" y="3246744"/>
            <a:ext cx="6461679" cy="1999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7540" lvl="1" marL="495081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3"/>
              <a:buFont typeface="Arial"/>
              <a:buChar char="•"/>
            </a:pPr>
            <a:r>
              <a:rPr b="0" i="0" lang="en-US" sz="229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observations： </a:t>
            </a:r>
            <a:endParaRPr/>
          </a:p>
          <a:p>
            <a:pPr indent="-247540" lvl="1" marL="495081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3"/>
              <a:buFont typeface="Arial"/>
              <a:buChar char="•"/>
            </a:pPr>
            <a:r>
              <a:rPr b="0" i="0" lang="en-US" sz="229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Multiple groups show statistically significant disparities</a:t>
            </a:r>
            <a:endParaRPr/>
          </a:p>
          <a:p>
            <a:pPr indent="-247540" lvl="1" marL="495081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3"/>
              <a:buFont typeface="Arial"/>
              <a:buChar char="•"/>
            </a:pPr>
            <a:r>
              <a:rPr b="0" i="0" lang="en-US" sz="229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flagged cases: 22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93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1897710" y="5623637"/>
            <a:ext cx="4964509" cy="162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Risks</a:t>
            </a:r>
            <a:endParaRPr/>
          </a:p>
          <a:p>
            <a:pPr indent="-248382" lvl="1" marL="496764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Unequal error rates across groups</a:t>
            </a:r>
            <a:endParaRPr/>
          </a:p>
          <a:p>
            <a:pPr indent="-248382" lvl="1" marL="496764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Potential violation of fairness standards</a:t>
            </a:r>
            <a:endParaRPr/>
          </a:p>
          <a:p>
            <a:pPr indent="0" lvl="0" marL="0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2167308" y="551228"/>
            <a:ext cx="136596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Ｑ2. Known failure modes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/>
        </p:nvSpPr>
        <p:spPr>
          <a:xfrm>
            <a:off x="706750" y="481875"/>
            <a:ext cx="17705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Q3. Subgroup error analysis</a:t>
            </a:r>
            <a:endParaRPr sz="8000"/>
          </a:p>
        </p:txBody>
      </p:sp>
      <p:sp>
        <p:nvSpPr>
          <p:cNvPr id="157" name="Google Shape;157;p8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490550" y="2529800"/>
            <a:ext cx="61530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We compare subgroup error rates across protected groups.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Metrics shown: </a:t>
            </a:r>
            <a:r>
              <a:rPr b="1" lang="en-US" sz="1600">
                <a:solidFill>
                  <a:schemeClr val="dk1"/>
                </a:solidFill>
              </a:rPr>
              <a:t>False Positive Rate (FPR)</a:t>
            </a:r>
            <a:r>
              <a:rPr lang="en-US" sz="1600">
                <a:solidFill>
                  <a:schemeClr val="dk1"/>
                </a:solidFill>
              </a:rPr>
              <a:t> and </a:t>
            </a:r>
            <a:r>
              <a:rPr b="1" lang="en-US" sz="1600">
                <a:solidFill>
                  <a:schemeClr val="dk1"/>
                </a:solidFill>
              </a:rPr>
              <a:t>False Negative Rate (FNR)</a:t>
            </a:r>
            <a:r>
              <a:rPr lang="en-US" sz="1600">
                <a:solidFill>
                  <a:schemeClr val="dk1"/>
                </a:solidFill>
              </a:rPr>
              <a:t> by race.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Dashed lines represent the </a:t>
            </a:r>
            <a:r>
              <a:rPr b="1" lang="en-US" sz="1600">
                <a:solidFill>
                  <a:schemeClr val="dk1"/>
                </a:solidFill>
              </a:rPr>
              <a:t>overall model error rates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Some groups face materially different error rates than the overall average.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This indicates </a:t>
            </a:r>
            <a:r>
              <a:rPr b="1" lang="en-US" sz="1600">
                <a:solidFill>
                  <a:schemeClr val="dk1"/>
                </a:solidFill>
              </a:rPr>
              <a:t>unequal error burden</a:t>
            </a:r>
            <a:r>
              <a:rPr lang="en-US" sz="1600">
                <a:solidFill>
                  <a:schemeClr val="dk1"/>
                </a:solidFill>
              </a:rPr>
              <a:t> even when overall performance appears stable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651" y="3316800"/>
            <a:ext cx="11120199" cy="487894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-888975" y="6177349"/>
            <a:ext cx="7434401" cy="4636363"/>
          </a:xfrm>
          <a:custGeom>
            <a:rect b="b" l="l" r="r" t="t"/>
            <a:pathLst>
              <a:path extrusionOk="0" h="4636363" w="7434401">
                <a:moveTo>
                  <a:pt x="0" y="0"/>
                </a:moveTo>
                <a:lnTo>
                  <a:pt x="7434401" y="0"/>
                </a:lnTo>
                <a:lnTo>
                  <a:pt x="7434401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8"/>
          <p:cNvSpPr/>
          <p:nvPr/>
        </p:nvSpPr>
        <p:spPr>
          <a:xfrm>
            <a:off x="1566230" y="12957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8"/>
          <p:cNvSpPr/>
          <p:nvPr/>
        </p:nvSpPr>
        <p:spPr>
          <a:xfrm rot="10800000">
            <a:off x="16685706" y="380853"/>
            <a:ext cx="436681" cy="339023"/>
          </a:xfrm>
          <a:custGeom>
            <a:rect b="b" l="l" r="r" t="t"/>
            <a:pathLst>
              <a:path extrusionOk="0"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ad23a58c_0_4"/>
          <p:cNvSpPr/>
          <p:nvPr/>
        </p:nvSpPr>
        <p:spPr>
          <a:xfrm>
            <a:off x="-888975" y="6177349"/>
            <a:ext cx="7434401" cy="4636363"/>
          </a:xfrm>
          <a:custGeom>
            <a:rect b="b" l="l" r="r" t="t"/>
            <a:pathLst>
              <a:path extrusionOk="0" h="4636363" w="7434401">
                <a:moveTo>
                  <a:pt x="0" y="0"/>
                </a:moveTo>
                <a:lnTo>
                  <a:pt x="7434401" y="0"/>
                </a:lnTo>
                <a:lnTo>
                  <a:pt x="7434401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g3e7ad23a58c_0_4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7ad23a58c_0_4"/>
          <p:cNvSpPr txBox="1"/>
          <p:nvPr/>
        </p:nvSpPr>
        <p:spPr>
          <a:xfrm>
            <a:off x="827275" y="2470000"/>
            <a:ext cx="165627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We evaluate approval disparities using </a:t>
            </a:r>
            <a:r>
              <a:rPr b="1" lang="en-US" sz="1600">
                <a:solidFill>
                  <a:schemeClr val="dk1"/>
                </a:solidFill>
              </a:rPr>
              <a:t>AIR, ME, and SMD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Reference group:</a:t>
            </a:r>
            <a:r>
              <a:rPr lang="en-US" sz="1600">
                <a:solidFill>
                  <a:schemeClr val="dk1"/>
                </a:solidFill>
              </a:rPr>
              <a:t> White applicants.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Under the </a:t>
            </a:r>
            <a:r>
              <a:rPr b="1" lang="en-US" sz="1600">
                <a:solidFill>
                  <a:schemeClr val="dk1"/>
                </a:solidFill>
              </a:rPr>
              <a:t>four-fifths rule</a:t>
            </a:r>
            <a:r>
              <a:rPr lang="en-US" sz="1600">
                <a:solidFill>
                  <a:schemeClr val="dk1"/>
                </a:solidFill>
              </a:rPr>
              <a:t>, </a:t>
            </a:r>
            <a:r>
              <a:rPr b="1" lang="en-US" sz="1600">
                <a:solidFill>
                  <a:schemeClr val="dk1"/>
                </a:solidFill>
              </a:rPr>
              <a:t>AIR &lt; 0.80</a:t>
            </a:r>
            <a:r>
              <a:rPr lang="en-US" sz="1600">
                <a:solidFill>
                  <a:schemeClr val="dk1"/>
                </a:solidFill>
              </a:rPr>
              <a:t> signals potential adverse impact.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In this race-level table, no group falls below AIR = 0.80.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However, </a:t>
            </a:r>
            <a:r>
              <a:rPr b="1" lang="en-US" sz="1600">
                <a:solidFill>
                  <a:schemeClr val="dk1"/>
                </a:solidFill>
              </a:rPr>
              <a:t>several groups are still flagged by ME and SMD</a:t>
            </a:r>
            <a:r>
              <a:rPr lang="en-US" sz="1600">
                <a:solidFill>
                  <a:schemeClr val="dk1"/>
                </a:solidFill>
              </a:rPr>
              <a:t>, indicating statistically and practically meaningful disparities.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0" name="Google Shape;170;g3e7ad23a58c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850" y="5036850"/>
            <a:ext cx="15441125" cy="31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e7ad23a58c_0_4"/>
          <p:cNvSpPr/>
          <p:nvPr/>
        </p:nvSpPr>
        <p:spPr>
          <a:xfrm>
            <a:off x="1566230" y="12957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g3e7ad23a58c_0_4"/>
          <p:cNvSpPr/>
          <p:nvPr/>
        </p:nvSpPr>
        <p:spPr>
          <a:xfrm>
            <a:off x="1566230" y="1295748"/>
            <a:ext cx="729305" cy="566206"/>
          </a:xfrm>
          <a:custGeom>
            <a:rect b="b" l="l" r="r" t="t"/>
            <a:pathLst>
              <a:path extrusionOk="0"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g3e7ad23a58c_0_4"/>
          <p:cNvSpPr/>
          <p:nvPr/>
        </p:nvSpPr>
        <p:spPr>
          <a:xfrm rot="10800000">
            <a:off x="16685706" y="380853"/>
            <a:ext cx="436681" cy="339023"/>
          </a:xfrm>
          <a:custGeom>
            <a:rect b="b" l="l" r="r" t="t"/>
            <a:pathLst>
              <a:path extrusionOk="0" h="339023" w="436681">
                <a:moveTo>
                  <a:pt x="436681" y="339023"/>
                </a:moveTo>
                <a:lnTo>
                  <a:pt x="0" y="339023"/>
                </a:lnTo>
                <a:lnTo>
                  <a:pt x="0" y="0"/>
                </a:lnTo>
                <a:lnTo>
                  <a:pt x="436681" y="0"/>
                </a:lnTo>
                <a:lnTo>
                  <a:pt x="436681" y="33902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e7ad23a58c_0_4"/>
          <p:cNvSpPr txBox="1"/>
          <p:nvPr/>
        </p:nvSpPr>
        <p:spPr>
          <a:xfrm>
            <a:off x="706750" y="481875"/>
            <a:ext cx="17705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Q3. Subgroup error analysis</a:t>
            </a:r>
            <a:endParaRPr sz="8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6054032" y="7421385"/>
            <a:ext cx="291723" cy="202084"/>
          </a:xfrm>
          <a:custGeom>
            <a:rect b="b" l="l" r="r" t="t"/>
            <a:pathLst>
              <a:path extrusionOk="0"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9"/>
          <p:cNvSpPr txBox="1"/>
          <p:nvPr/>
        </p:nvSpPr>
        <p:spPr>
          <a:xfrm>
            <a:off x="403000" y="483275"/>
            <a:ext cx="10984800" cy="19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Inter"/>
                <a:ea typeface="Inter"/>
                <a:cs typeface="Inter"/>
                <a:sym typeface="Inter"/>
              </a:rPr>
              <a:t>Q4. </a:t>
            </a:r>
            <a:r>
              <a:rPr lang="en-US" sz="7200">
                <a:solidFill>
                  <a:schemeClr val="dk1"/>
                </a:solidFill>
                <a:highlight>
                  <a:srgbClr val="FFFFFF"/>
                </a:highlight>
              </a:rPr>
              <a:t>What risks remain after mitigation?</a:t>
            </a:r>
            <a:r>
              <a:rPr lang="en-US" sz="6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sz="6000"/>
          </a:p>
        </p:txBody>
      </p:sp>
      <p:sp>
        <p:nvSpPr>
          <p:cNvPr id="181" name="Google Shape;181;p9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1028700" y="7205980"/>
            <a:ext cx="427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6342038" y="6431700"/>
            <a:ext cx="49518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 Global Threshold 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Single threshold: </a:t>
            </a:r>
            <a:r>
              <a:rPr b="1" lang="en-US" sz="1900">
                <a:solidFill>
                  <a:schemeClr val="dk1"/>
                </a:solidFill>
              </a:rPr>
              <a:t>0.46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Selected to improve the lowest intersectional AIR values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Black Female AIR: </a:t>
            </a:r>
            <a:r>
              <a:rPr b="1" lang="en-US" sz="1900">
                <a:solidFill>
                  <a:schemeClr val="dk1"/>
                </a:solidFill>
              </a:rPr>
              <a:t>0.7913 → 0.8011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AIAN Male AIR: </a:t>
            </a:r>
            <a:r>
              <a:rPr b="1" lang="en-US" sz="1900">
                <a:solidFill>
                  <a:schemeClr val="dk1"/>
                </a:solidFill>
              </a:rPr>
              <a:t>0.7944 → 0.8312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Uses one group-neutral decision rule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6414546" y="5680475"/>
            <a:ext cx="333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Mitigation Results</a:t>
            </a:r>
            <a:endParaRPr sz="2800"/>
          </a:p>
        </p:txBody>
      </p:sp>
      <p:sp>
        <p:nvSpPr>
          <p:cNvPr id="185" name="Google Shape;185;p9"/>
          <p:cNvSpPr txBox="1"/>
          <p:nvPr/>
        </p:nvSpPr>
        <p:spPr>
          <a:xfrm>
            <a:off x="12519025" y="6873025"/>
            <a:ext cx="5301900" cy="27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Residual Risks After Mitigation</a:t>
            </a:r>
            <a:endParaRPr b="1" sz="28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FPR differences persist across demographic groups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Model performance may drift after deployment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Sensitive to missing or sparse applicant data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12602943" y="6120250"/>
            <a:ext cx="530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7" name="Google Shape;187;p9"/>
          <p:cNvSpPr/>
          <p:nvPr/>
        </p:nvSpPr>
        <p:spPr>
          <a:xfrm>
            <a:off x="11985387" y="8145385"/>
            <a:ext cx="291723" cy="202084"/>
          </a:xfrm>
          <a:custGeom>
            <a:rect b="b" l="l" r="r" t="t"/>
            <a:pathLst>
              <a:path extrusionOk="0"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9"/>
          <p:cNvSpPr/>
          <p:nvPr/>
        </p:nvSpPr>
        <p:spPr>
          <a:xfrm>
            <a:off x="11139554" y="483275"/>
            <a:ext cx="7148446" cy="4185090"/>
          </a:xfrm>
          <a:custGeom>
            <a:rect b="b" l="l" r="r" t="t"/>
            <a:pathLst>
              <a:path extrusionOk="0" h="4185090" w="7148446">
                <a:moveTo>
                  <a:pt x="0" y="0"/>
                </a:moveTo>
                <a:lnTo>
                  <a:pt x="7148446" y="0"/>
                </a:lnTo>
                <a:lnTo>
                  <a:pt x="7148446" y="4185090"/>
                </a:lnTo>
                <a:lnTo>
                  <a:pt x="0" y="4185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9"/>
          <p:cNvSpPr txBox="1"/>
          <p:nvPr/>
        </p:nvSpPr>
        <p:spPr>
          <a:xfrm>
            <a:off x="-15150" y="3636600"/>
            <a:ext cx="63609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Mitigation Strategy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Focus on GBT model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Apply post-processing global threshold adjustment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Goal: reduce intersectional subgroup disparity without retraining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90" name="Google Shape;190;p9"/>
          <p:cNvSpPr txBox="1"/>
          <p:nvPr/>
        </p:nvSpPr>
        <p:spPr>
          <a:xfrm>
            <a:off x="48975" y="6431700"/>
            <a:ext cx="50679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</a:rPr>
              <a:t>Global Threshold Mitigation</a:t>
            </a:r>
            <a:endParaRPr b="1" sz="28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Selected threshold: </a:t>
            </a:r>
            <a:r>
              <a:rPr b="1" lang="en-US" sz="1900">
                <a:solidFill>
                  <a:schemeClr val="dk1"/>
                </a:solidFill>
              </a:rPr>
              <a:t>0.46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Single group-neutral decision rule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Designed to improve the lowest intersectional AIR values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12908725" y="8995950"/>
            <a:ext cx="55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192" name="Google Shape;192;p9"/>
          <p:cNvSpPr txBox="1"/>
          <p:nvPr/>
        </p:nvSpPr>
        <p:spPr>
          <a:xfrm>
            <a:off x="6414550" y="9380400"/>
            <a:ext cx="618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ef583a633_26_0"/>
          <p:cNvSpPr/>
          <p:nvPr/>
        </p:nvSpPr>
        <p:spPr>
          <a:xfrm>
            <a:off x="14013650" y="45800"/>
            <a:ext cx="3857797" cy="2775512"/>
          </a:xfrm>
          <a:custGeom>
            <a:rect b="b" l="l" r="r" t="t"/>
            <a:pathLst>
              <a:path extrusionOk="0" h="4550020" w="5779471">
                <a:moveTo>
                  <a:pt x="0" y="0"/>
                </a:moveTo>
                <a:lnTo>
                  <a:pt x="5779471" y="0"/>
                </a:lnTo>
                <a:lnTo>
                  <a:pt x="5779471" y="4550020"/>
                </a:lnTo>
                <a:lnTo>
                  <a:pt x="0" y="4550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3def583a633_26_0"/>
          <p:cNvSpPr txBox="1"/>
          <p:nvPr/>
        </p:nvSpPr>
        <p:spPr>
          <a:xfrm>
            <a:off x="458500" y="398625"/>
            <a:ext cx="14366400" cy="19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Q5. Is the Model Deployment Defensible?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def583a633_26_0"/>
          <p:cNvSpPr txBox="1"/>
          <p:nvPr/>
        </p:nvSpPr>
        <p:spPr>
          <a:xfrm>
            <a:off x="1566219" y="1108262"/>
            <a:ext cx="20334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def583a633_26_0"/>
          <p:cNvSpPr txBox="1"/>
          <p:nvPr/>
        </p:nvSpPr>
        <p:spPr>
          <a:xfrm>
            <a:off x="12476510" y="6910705"/>
            <a:ext cx="478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ef583a633_26_0"/>
          <p:cNvSpPr txBox="1"/>
          <p:nvPr/>
        </p:nvSpPr>
        <p:spPr>
          <a:xfrm>
            <a:off x="7158921" y="4351450"/>
            <a:ext cx="333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def583a633_26_0"/>
          <p:cNvSpPr txBox="1"/>
          <p:nvPr/>
        </p:nvSpPr>
        <p:spPr>
          <a:xfrm>
            <a:off x="13777562" y="9440975"/>
            <a:ext cx="530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g3def583a633_26_0"/>
          <p:cNvSpPr txBox="1"/>
          <p:nvPr/>
        </p:nvSpPr>
        <p:spPr>
          <a:xfrm>
            <a:off x="188425" y="2818225"/>
            <a:ext cx="530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Performance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ef583a633_26_0"/>
          <p:cNvSpPr txBox="1"/>
          <p:nvPr/>
        </p:nvSpPr>
        <p:spPr>
          <a:xfrm>
            <a:off x="188425" y="3447007"/>
            <a:ext cx="44295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GBT achieves strong predictive performance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High AUC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Low log loss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Good generalization on test data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def583a633_26_0"/>
          <p:cNvSpPr txBox="1"/>
          <p:nvPr/>
        </p:nvSpPr>
        <p:spPr>
          <a:xfrm>
            <a:off x="5957452" y="2818225"/>
            <a:ext cx="406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Fairness Issues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ef583a633_26_0"/>
          <p:cNvSpPr/>
          <p:nvPr/>
        </p:nvSpPr>
        <p:spPr>
          <a:xfrm>
            <a:off x="4888378" y="4764074"/>
            <a:ext cx="629392" cy="666877"/>
          </a:xfrm>
          <a:custGeom>
            <a:rect b="b" l="l" r="r" t="t"/>
            <a:pathLst>
              <a:path extrusionOk="0"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g3def583a633_26_0"/>
          <p:cNvSpPr txBox="1"/>
          <p:nvPr/>
        </p:nvSpPr>
        <p:spPr>
          <a:xfrm>
            <a:off x="5957452" y="3447007"/>
            <a:ext cx="45849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Fairness Concerns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Significant subgroup disparities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Some groups fail the 80% rule (AIR &lt; 0.80)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Unequal error rates (FPR /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FNR)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ef583a633_26_0"/>
          <p:cNvSpPr/>
          <p:nvPr/>
        </p:nvSpPr>
        <p:spPr>
          <a:xfrm>
            <a:off x="10732741" y="4856049"/>
            <a:ext cx="629392" cy="666877"/>
          </a:xfrm>
          <a:custGeom>
            <a:rect b="b" l="l" r="r" t="t"/>
            <a:pathLst>
              <a:path extrusionOk="0" h="202084" w="291723">
                <a:moveTo>
                  <a:pt x="0" y="0"/>
                </a:moveTo>
                <a:lnTo>
                  <a:pt x="291723" y="0"/>
                </a:lnTo>
                <a:lnTo>
                  <a:pt x="291723" y="202085"/>
                </a:lnTo>
                <a:lnTo>
                  <a:pt x="0" y="202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g3def583a633_26_0"/>
          <p:cNvSpPr txBox="1"/>
          <p:nvPr/>
        </p:nvSpPr>
        <p:spPr>
          <a:xfrm>
            <a:off x="11881863" y="2818225"/>
            <a:ext cx="430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Mitigation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def583a633_26_0"/>
          <p:cNvSpPr txBox="1"/>
          <p:nvPr/>
        </p:nvSpPr>
        <p:spPr>
          <a:xfrm>
            <a:off x="11881863" y="3447007"/>
            <a:ext cx="43080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Threshold adjustment improves fairness partially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Disparities still remain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Group-specific policy not legally deployable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ef583a633_26_0"/>
          <p:cNvSpPr txBox="1"/>
          <p:nvPr/>
        </p:nvSpPr>
        <p:spPr>
          <a:xfrm>
            <a:off x="11881875" y="5937863"/>
            <a:ext cx="5917200" cy="166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Conclusion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is NOT defensible for deployment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current fairness and regulatory standards.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g3def583a633_26_0"/>
          <p:cNvGraphicFramePr/>
          <p:nvPr/>
        </p:nvGraphicFramePr>
        <p:xfrm>
          <a:off x="468635" y="78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{CF28A014-2334-43F5-819D-BED49729461F}</a:tableStyleId>
              </a:tblPr>
              <a:tblGrid>
                <a:gridCol w="587050"/>
                <a:gridCol w="4493275"/>
                <a:gridCol w="1735075"/>
                <a:gridCol w="1825800"/>
                <a:gridCol w="1369325"/>
                <a:gridCol w="1131300"/>
                <a:gridCol w="1593350"/>
                <a:gridCol w="2075225"/>
                <a:gridCol w="1249875"/>
                <a:gridCol w="1290475"/>
              </a:tblGrid>
              <a:tr h="65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Candidate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Decision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Op threshold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Test AUC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Min AIR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AUC drop (drift)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AUC drop (NaN)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# hard fails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>
                          <a:solidFill>
                            <a:schemeClr val="dk1"/>
                          </a:solidFill>
                        </a:rPr>
                        <a:t># soft fails</a:t>
                      </a:r>
                      <a:endParaRPr b="1"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</a:tr>
              <a:tr h="4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Logistic Regression (single threshold)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CONDITIONAL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0.70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0.8817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0.8102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0.0316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0.0066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4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Gradient Boosting (Policy A: global threshold)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DO NOT DEPLOY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0.9063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0.7704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0.0435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0.0218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</a:tr>
              <a:tr h="4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Gradient Boosting (Policy B: group-specific th...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DO NOT DEPLOY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0.30 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(if derived_race) 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0.9063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0.7913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0.0435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0.0218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2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</a:rPr>
                        <a:t>1</a:t>
                      </a:r>
                      <a:endParaRPr sz="1450">
                        <a:solidFill>
                          <a:schemeClr val="dk1"/>
                        </a:solidFill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1028700" y="1028700"/>
            <a:ext cx="361435" cy="361435"/>
          </a:xfrm>
          <a:custGeom>
            <a:rect b="b" l="l" r="r" t="t"/>
            <a:pathLst>
              <a:path extrusionOk="0" h="361435" w="361435">
                <a:moveTo>
                  <a:pt x="0" y="0"/>
                </a:moveTo>
                <a:lnTo>
                  <a:pt x="361435" y="0"/>
                </a:lnTo>
                <a:lnTo>
                  <a:pt x="361435" y="361435"/>
                </a:lnTo>
                <a:lnTo>
                  <a:pt x="0" y="36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3"/>
          <p:cNvSpPr/>
          <p:nvPr/>
        </p:nvSpPr>
        <p:spPr>
          <a:xfrm>
            <a:off x="8999665" y="1028700"/>
            <a:ext cx="8259635" cy="8229600"/>
          </a:xfrm>
          <a:custGeom>
            <a:rect b="b" l="l" r="r" t="t"/>
            <a:pathLst>
              <a:path extrusionOk="0"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9" name="Google Shape;219;p13"/>
          <p:cNvGrpSpPr/>
          <p:nvPr/>
        </p:nvGrpSpPr>
        <p:grpSpPr>
          <a:xfrm>
            <a:off x="1028700" y="7718033"/>
            <a:ext cx="228600" cy="228600"/>
            <a:chOff x="0" y="0"/>
            <a:chExt cx="812800" cy="812800"/>
          </a:xfrm>
        </p:grpSpPr>
        <p:sp>
          <p:nvSpPr>
            <p:cNvPr id="220" name="Google Shape;220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498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3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3"/>
          <p:cNvSpPr txBox="1"/>
          <p:nvPr/>
        </p:nvSpPr>
        <p:spPr>
          <a:xfrm>
            <a:off x="1028700" y="4000357"/>
            <a:ext cx="8332616" cy="1745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9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1390128" y="9003450"/>
            <a:ext cx="1051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Inter"/>
                <a:ea typeface="Inter"/>
                <a:cs typeface="Inter"/>
                <a:sym typeface="Inter"/>
              </a:rPr>
              <a:t>https://github.com/XIaoweiCen666/Group-4-responsible-ml-capstone</a:t>
            </a:r>
            <a:endParaRPr/>
          </a:p>
        </p:txBody>
      </p:sp>
      <p:grpSp>
        <p:nvGrpSpPr>
          <p:cNvPr id="224" name="Google Shape;224;p13"/>
          <p:cNvGrpSpPr/>
          <p:nvPr/>
        </p:nvGrpSpPr>
        <p:grpSpPr>
          <a:xfrm>
            <a:off x="1028700" y="8373867"/>
            <a:ext cx="228600" cy="228600"/>
            <a:chOff x="0" y="0"/>
            <a:chExt cx="812800" cy="812800"/>
          </a:xfrm>
        </p:grpSpPr>
        <p:sp>
          <p:nvSpPr>
            <p:cNvPr id="225" name="Google Shape;22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79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3"/>
          <p:cNvGrpSpPr/>
          <p:nvPr/>
        </p:nvGrpSpPr>
        <p:grpSpPr>
          <a:xfrm>
            <a:off x="1028700" y="9029700"/>
            <a:ext cx="228600" cy="228600"/>
            <a:chOff x="0" y="0"/>
            <a:chExt cx="812800" cy="812800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8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